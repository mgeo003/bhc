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BehavioralHealth 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Implementation Proposal &amp; Estimate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371600"/>
            <a:ext cx="2286000" cy="1371600"/>
          </a:xfrm>
          <a:prstGeom prst="rect">
            <a:avLst/>
          </a:prstGeom>
          <a:solidFill>
            <a:srgbClr val="F0F7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0066CC"/>
                </a:solidFill>
              </a:defRPr>
            </a:pPr>
            <a:r>
              <a:t>690 Hours</a:t>
            </a:r>
          </a:p>
          <a:p>
            <a:pPr algn="ctr">
              <a:spcBef>
                <a:spcPts val="600"/>
              </a:spcBef>
              <a:defRPr sz="1400">
                <a:solidFill>
                  <a:srgbClr val="6B7280"/>
                </a:solidFill>
              </a:defRPr>
            </a:pPr>
            <a:r>
              <a:t>Traditional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371600"/>
            <a:ext cx="2286000" cy="1371600"/>
          </a:xfrm>
          <a:prstGeom prst="rect">
            <a:avLst/>
          </a:prstGeom>
          <a:solidFill>
            <a:srgbClr val="D4F4DD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059669"/>
                </a:solidFill>
              </a:defRPr>
            </a:pPr>
            <a:r>
              <a:t>517 Hours</a:t>
            </a:r>
          </a:p>
          <a:p>
            <a:pPr algn="ctr">
              <a:spcBef>
                <a:spcPts val="600"/>
              </a:spcBef>
              <a:defRPr sz="1400">
                <a:solidFill>
                  <a:srgbClr val="6B7280"/>
                </a:solidFill>
              </a:defRPr>
            </a:pPr>
            <a:r>
              <a:t>AI-Assisted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3657600"/>
            <a:ext cx="2286000" cy="1371600"/>
          </a:xfrm>
          <a:prstGeom prst="rect">
            <a:avLst/>
          </a:prstGeom>
          <a:solidFill>
            <a:srgbClr val="F0F7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0066CC"/>
                </a:solidFill>
              </a:defRPr>
            </a:pPr>
            <a:r>
              <a:t>25% Savings</a:t>
            </a:r>
          </a:p>
          <a:p>
            <a:pPr algn="ctr">
              <a:spcBef>
                <a:spcPts val="600"/>
              </a:spcBef>
              <a:defRPr sz="1400">
                <a:solidFill>
                  <a:srgbClr val="6B7280"/>
                </a:solidFill>
              </a:defRPr>
            </a:pPr>
            <a:r>
              <a:t>Time Reduction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657600"/>
            <a:ext cx="2286000" cy="1371600"/>
          </a:xfrm>
          <a:prstGeom prst="rect">
            <a:avLst/>
          </a:prstGeom>
          <a:solidFill>
            <a:srgbClr val="D4F4DD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059669"/>
                </a:solidFill>
              </a:defRPr>
            </a:pPr>
            <a:r>
              <a:t>$9,245</a:t>
            </a:r>
          </a:p>
          <a:p>
            <a:pPr algn="ctr">
              <a:spcBef>
                <a:spcPts val="600"/>
              </a:spcBef>
              <a:defRPr sz="1400">
                <a:solidFill>
                  <a:srgbClr val="6B7280"/>
                </a:solidFill>
              </a:defRPr>
            </a:pPr>
            <a:r>
              <a:t>Cost Savings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1200"/>
              </a:spcBef>
              <a:defRPr sz="2000">
                <a:solidFill>
                  <a:srgbClr val="374151"/>
                </a:solidFill>
              </a:defRPr>
            </a:pPr>
            <a:r>
              <a:t>Fragmented behavioral health provider information across Texas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2000">
                <a:solidFill>
                  <a:srgbClr val="374151"/>
                </a:solidFill>
              </a:defRPr>
            </a:pPr>
            <a:r>
              <a:t>Clinicians spend hours manually searching for available beds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2000">
                <a:solidFill>
                  <a:srgbClr val="374151"/>
                </a:solidFill>
              </a:defRPr>
            </a:pPr>
            <a:r>
              <a:t>No centralized platform for real-time bed availability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2000">
                <a:solidFill>
                  <a:srgbClr val="374151"/>
                </a:solidFill>
              </a:defRPr>
            </a:pPr>
            <a:r>
              <a:t>Providers lack efficient tools to update capacity and profiles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2000">
                <a:solidFill>
                  <a:srgbClr val="374151"/>
                </a:solidFill>
              </a:defRPr>
            </a:pPr>
            <a:r>
              <a:t>Time-sensitive placements delayed due to information gaps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Our Solution: BehavioralHealth Connect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 b="1">
                <a:solidFill>
                  <a:srgbClr val="0066CC"/>
                </a:solidFill>
              </a:defRPr>
            </a:pPr>
            <a:r>
              <a:t>A comprehensive web platform connecting behavioral health clinicians with treatment facilities across Texas</a:t>
            </a:r>
          </a:p>
          <a:p>
            <a:pPr>
              <a:spcBef>
                <a:spcPts val="1000"/>
              </a:spcBef>
              <a:defRPr sz="1600" b="1">
                <a:solidFill>
                  <a:srgbClr val="0066CC"/>
                </a:solidFill>
              </a:defRPr>
            </a:pPr>
            <a:r>
              <a:t>Real-Time Search: </a:t>
            </a:r>
            <a:r>
              <a:rPr b="0">
                <a:solidFill>
                  <a:srgbClr val="374151"/>
                </a:solidFill>
              </a:rPr>
              <a:t>Geospatial and hybrid search for immediate bed availability</a:t>
            </a:r>
          </a:p>
          <a:p>
            <a:pPr>
              <a:spcBef>
                <a:spcPts val="1000"/>
              </a:spcBef>
              <a:defRPr sz="1600" b="1">
                <a:solidFill>
                  <a:srgbClr val="0066CC"/>
                </a:solidFill>
              </a:defRPr>
            </a:pPr>
            <a:r>
              <a:t>Provider Portal: </a:t>
            </a:r>
            <a:r>
              <a:rPr b="0">
                <a:solidFill>
                  <a:srgbClr val="374151"/>
                </a:solidFill>
              </a:rPr>
              <a:t>Facilities manage profiles, bed counts, and receive placement inquiries</a:t>
            </a:r>
          </a:p>
          <a:p>
            <a:pPr>
              <a:spcBef>
                <a:spcPts val="1000"/>
              </a:spcBef>
              <a:defRPr sz="1600" b="1">
                <a:solidFill>
                  <a:srgbClr val="0066CC"/>
                </a:solidFill>
              </a:defRPr>
            </a:pPr>
            <a:r>
              <a:t>Magic Link System: </a:t>
            </a:r>
            <a:r>
              <a:rPr b="0">
                <a:solidFill>
                  <a:srgbClr val="374151"/>
                </a:solidFill>
              </a:rPr>
              <a:t>Passwordless bed updates via email/SMS for quick updates</a:t>
            </a:r>
          </a:p>
          <a:p>
            <a:pPr>
              <a:spcBef>
                <a:spcPts val="1000"/>
              </a:spcBef>
              <a:defRPr sz="1600" b="1">
                <a:solidFill>
                  <a:srgbClr val="0066CC"/>
                </a:solidFill>
              </a:defRPr>
            </a:pPr>
            <a:r>
              <a:t>Clinician Portal: </a:t>
            </a:r>
            <a:r>
              <a:rPr b="0">
                <a:solidFill>
                  <a:srgbClr val="374151"/>
                </a:solidFill>
              </a:rPr>
              <a:t>Save facilities, log contacts, and leave reviews</a:t>
            </a:r>
          </a:p>
          <a:p>
            <a:pPr>
              <a:spcBef>
                <a:spcPts val="1000"/>
              </a:spcBef>
              <a:defRPr sz="1600" b="1">
                <a:solidFill>
                  <a:srgbClr val="0066CC"/>
                </a:solidFill>
              </a:defRPr>
            </a:pPr>
            <a:r>
              <a:t>Admin Dashboard: </a:t>
            </a:r>
            <a:r>
              <a:rPr b="0">
                <a:solidFill>
                  <a:srgbClr val="374151"/>
                </a:solidFill>
              </a:rPr>
              <a:t>Provider verification, analytics, and platform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3200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Backend</a:t>
            </a:r>
          </a:p>
          <a:p>
            <a:pPr>
              <a:spcBef>
                <a:spcPts val="600"/>
              </a:spcBef>
              <a:defRPr sz="1400">
                <a:solidFill>
                  <a:srgbClr val="374151"/>
                </a:solidFill>
              </a:defRPr>
            </a:pPr>
            <a:r>
              <a:t>Java + Quarkus 3.x</a:t>
            </a:r>
          </a:p>
          <a:p>
            <a:pPr>
              <a:spcBef>
                <a:spcPts val="600"/>
              </a:spcBef>
              <a:defRPr sz="1400">
                <a:solidFill>
                  <a:srgbClr val="374151"/>
                </a:solidFill>
              </a:defRPr>
            </a:pPr>
            <a:r>
              <a:t>PostgreSQL + PostGIS</a:t>
            </a:r>
          </a:p>
          <a:p>
            <a:pPr>
              <a:spcBef>
                <a:spcPts val="600"/>
              </a:spcBef>
              <a:defRPr sz="1400">
                <a:solidFill>
                  <a:srgbClr val="374151"/>
                </a:solidFill>
              </a:defRPr>
            </a:pPr>
            <a:r>
              <a:t>Hibernate with Panache</a:t>
            </a:r>
          </a:p>
          <a:p>
            <a:pPr>
              <a:spcBef>
                <a:spcPts val="600"/>
              </a:spcBef>
              <a:defRPr sz="1400">
                <a:solidFill>
                  <a:srgbClr val="374151"/>
                </a:solidFill>
              </a:defRPr>
            </a:pPr>
            <a:r>
              <a:t>JWT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3200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Frontend</a:t>
            </a:r>
          </a:p>
          <a:p>
            <a:pPr>
              <a:spcBef>
                <a:spcPts val="600"/>
              </a:spcBef>
              <a:defRPr sz="1400">
                <a:solidFill>
                  <a:srgbClr val="374151"/>
                </a:solidFill>
              </a:defRPr>
            </a:pPr>
            <a:r>
              <a:t>React + TypeScript</a:t>
            </a:r>
          </a:p>
          <a:p>
            <a:pPr>
              <a:spcBef>
                <a:spcPts val="600"/>
              </a:spcBef>
              <a:defRPr sz="1400">
                <a:solidFill>
                  <a:srgbClr val="374151"/>
                </a:solidFill>
              </a:defRPr>
            </a:pPr>
            <a:r>
              <a:t>Vite Build Tool</a:t>
            </a:r>
          </a:p>
          <a:p>
            <a:pPr>
              <a:spcBef>
                <a:spcPts val="600"/>
              </a:spcBef>
              <a:defRPr sz="1400">
                <a:solidFill>
                  <a:srgbClr val="374151"/>
                </a:solidFill>
              </a:defRPr>
            </a:pPr>
            <a:r>
              <a:t>Tailwind CSS</a:t>
            </a:r>
          </a:p>
          <a:p>
            <a:pPr>
              <a:spcBef>
                <a:spcPts val="600"/>
              </a:spcBef>
              <a:defRPr sz="1400">
                <a:solidFill>
                  <a:srgbClr val="374151"/>
                </a:solidFill>
              </a:defRPr>
            </a:pPr>
            <a:r>
              <a:t>Mapbox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3200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Infrastructure</a:t>
            </a:r>
          </a:p>
          <a:p>
            <a:pPr>
              <a:spcBef>
                <a:spcPts val="600"/>
              </a:spcBef>
              <a:defRPr sz="1400">
                <a:solidFill>
                  <a:srgbClr val="374151"/>
                </a:solidFill>
              </a:defRPr>
            </a:pPr>
            <a:r>
              <a:t>AWS ECS Fargate</a:t>
            </a:r>
          </a:p>
          <a:p>
            <a:pPr>
              <a:spcBef>
                <a:spcPts val="600"/>
              </a:spcBef>
              <a:defRPr sz="1400">
                <a:solidFill>
                  <a:srgbClr val="374151"/>
                </a:solidFill>
              </a:defRPr>
            </a:pPr>
            <a:r>
              <a:t>RDS Multi-AZ</a:t>
            </a:r>
          </a:p>
          <a:p>
            <a:pPr>
              <a:spcBef>
                <a:spcPts val="600"/>
              </a:spcBef>
              <a:defRPr sz="1400">
                <a:solidFill>
                  <a:srgbClr val="374151"/>
                </a:solidFill>
              </a:defRPr>
            </a:pPr>
            <a:r>
              <a:t>CloudFront CDN</a:t>
            </a:r>
          </a:p>
          <a:p>
            <a:pPr>
              <a:spcBef>
                <a:spcPts val="600"/>
              </a:spcBef>
              <a:defRPr sz="1400">
                <a:solidFill>
                  <a:srgbClr val="374151"/>
                </a:solidFill>
              </a:defRPr>
            </a:pPr>
            <a:r>
              <a:t>GitHub Actions CI/CD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4114800"/>
            <a:ext cx="3200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Third-Party Services</a:t>
            </a:r>
          </a:p>
          <a:p>
            <a:pPr>
              <a:spcBef>
                <a:spcPts val="600"/>
              </a:spcBef>
              <a:defRPr sz="1400">
                <a:solidFill>
                  <a:srgbClr val="374151"/>
                </a:solidFill>
              </a:defRPr>
            </a:pPr>
            <a:r>
              <a:t>Clerk Auth</a:t>
            </a:r>
          </a:p>
          <a:p>
            <a:pPr>
              <a:spcBef>
                <a:spcPts val="600"/>
              </a:spcBef>
              <a:defRPr sz="1400">
                <a:solidFill>
                  <a:srgbClr val="374151"/>
                </a:solidFill>
              </a:defRPr>
            </a:pPr>
            <a:r>
              <a:t>Algolia Search</a:t>
            </a:r>
          </a:p>
          <a:p>
            <a:pPr>
              <a:spcBef>
                <a:spcPts val="600"/>
              </a:spcBef>
              <a:defRPr sz="1400">
                <a:solidFill>
                  <a:srgbClr val="374151"/>
                </a:solidFill>
              </a:defRPr>
            </a:pPr>
            <a:r>
              <a:t>Mapbox Maps</a:t>
            </a:r>
          </a:p>
          <a:p>
            <a:pPr>
              <a:spcBef>
                <a:spcPts val="600"/>
              </a:spcBef>
              <a:defRPr sz="1400">
                <a:solidFill>
                  <a:srgbClr val="374151"/>
                </a:solidFill>
              </a:defRPr>
            </a:pPr>
            <a:r>
              <a:t>Twilio SMS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AI-Powered Development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 b="1">
                <a:solidFill>
                  <a:srgbClr val="059669"/>
                </a:solidFill>
              </a:defRPr>
            </a:pPr>
            <a:r>
              <a:t>Leveraging AI for 25% Faster Delivery</a:t>
            </a:r>
          </a:p>
          <a:p>
            <a:pPr>
              <a:spcBef>
                <a:spcPts val="1000"/>
              </a:spcBef>
              <a:defRPr sz="1800" b="1">
                <a:solidFill>
                  <a:srgbClr val="0066CC"/>
                </a:solidFill>
              </a:defRPr>
            </a:pPr>
            <a:r>
              <a:t>AI Development Tools:</a:t>
            </a:r>
          </a:p>
          <a:p>
            <a:pPr lvl="1">
              <a:spcBef>
                <a:spcPts val="800"/>
              </a:spcBef>
              <a:defRPr sz="1600">
                <a:solidFill>
                  <a:srgbClr val="374151"/>
                </a:solidFill>
              </a:defRPr>
            </a:pPr>
            <a:r>
              <a:t>GitHub Copilot: Code generation and autocomplete</a:t>
            </a:r>
          </a:p>
          <a:p>
            <a:pPr lvl="1">
              <a:spcBef>
                <a:spcPts val="800"/>
              </a:spcBef>
              <a:defRPr sz="1600">
                <a:solidFill>
                  <a:srgbClr val="374151"/>
                </a:solidFill>
              </a:defRPr>
            </a:pPr>
            <a:r>
              <a:t>Claude API: Complex problem solving and architecture</a:t>
            </a:r>
          </a:p>
          <a:p>
            <a:pPr lvl="1">
              <a:spcBef>
                <a:spcPts val="800"/>
              </a:spcBef>
              <a:defRPr sz="1600">
                <a:solidFill>
                  <a:srgbClr val="374151"/>
                </a:solidFill>
              </a:defRPr>
            </a:pPr>
            <a:r>
              <a:t>JetBrains AI Assistant: Refactoring and optimization</a:t>
            </a:r>
          </a:p>
          <a:p>
            <a:pPr>
              <a:spcBef>
                <a:spcPts val="2000"/>
              </a:spcBef>
              <a:defRPr sz="1800" b="1">
                <a:solidFill>
                  <a:srgbClr val="0066CC"/>
                </a:solidFill>
              </a:defRPr>
            </a:pPr>
            <a:r>
              <a:t>Benefits:</a:t>
            </a:r>
          </a:p>
          <a:p>
            <a:pPr lvl="1">
              <a:spcBef>
                <a:spcPts val="800"/>
              </a:spcBef>
              <a:defRPr sz="1600">
                <a:solidFill>
                  <a:srgbClr val="374151"/>
                </a:solidFill>
              </a:defRPr>
            </a:pPr>
            <a:r>
              <a:t>25% reduction in development time</a:t>
            </a:r>
          </a:p>
          <a:p>
            <a:pPr lvl="1">
              <a:spcBef>
                <a:spcPts val="800"/>
              </a:spcBef>
              <a:defRPr sz="1600">
                <a:solidFill>
                  <a:srgbClr val="374151"/>
                </a:solidFill>
              </a:defRPr>
            </a:pPr>
            <a:r>
              <a:t>Higher code quality with AI-assisted testing</a:t>
            </a:r>
          </a:p>
          <a:p>
            <a:pPr lvl="1">
              <a:spcBef>
                <a:spcPts val="800"/>
              </a:spcBef>
              <a:defRPr sz="1600">
                <a:solidFill>
                  <a:srgbClr val="374151"/>
                </a:solidFill>
              </a:defRPr>
            </a:pPr>
            <a:r>
              <a:t>Faster debugging and issue resolution</a:t>
            </a:r>
          </a:p>
          <a:p>
            <a:pPr lvl="1">
              <a:spcBef>
                <a:spcPts val="800"/>
              </a:spcBef>
              <a:defRPr sz="1600">
                <a:solidFill>
                  <a:srgbClr val="374151"/>
                </a:solidFill>
              </a:defRPr>
            </a:pPr>
            <a:r>
              <a:t>Consistent code patterns and best practices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Effort Breakdown by Role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74151"/>
                </a:solidFill>
              </a:defRPr>
            </a:pPr>
            <a:r>
              <a:t>Development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2926080" y="1645920"/>
            <a:ext cx="2487168" cy="32004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926080" y="2011680"/>
            <a:ext cx="1865376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0" y="16459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74151"/>
                </a:solidFill>
              </a:defRPr>
            </a:pPr>
            <a:r>
              <a:t>544h → 408h</a:t>
            </a:r>
          </a:p>
          <a:p>
            <a:pPr>
              <a:defRPr sz="1100">
                <a:solidFill>
                  <a:srgbClr val="6B7280"/>
                </a:solidFill>
              </a:defRPr>
            </a:pPr>
            <a:r>
              <a:t>78.8% of total effort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74151"/>
                </a:solidFill>
              </a:defRPr>
            </a:pPr>
            <a:r>
              <a:t>DevOps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834640"/>
            <a:ext cx="347472" cy="32004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26080" y="3200400"/>
            <a:ext cx="260604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283464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74151"/>
                </a:solidFill>
              </a:defRPr>
            </a:pPr>
            <a:r>
              <a:t>76h → 57h</a:t>
            </a:r>
          </a:p>
          <a:p>
            <a:pPr>
              <a:defRPr sz="1100">
                <a:solidFill>
                  <a:srgbClr val="6B7280"/>
                </a:solidFill>
              </a:defRPr>
            </a:pPr>
            <a:r>
              <a:t>11.0% of total effort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74151"/>
                </a:solidFill>
              </a:defRPr>
            </a:pPr>
            <a:r>
              <a:t>QA &amp; Testing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4023360"/>
            <a:ext cx="320040" cy="32004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26080" y="4389120"/>
            <a:ext cx="237744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402336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74151"/>
                </a:solidFill>
              </a:defRPr>
            </a:pPr>
            <a:r>
              <a:t>70h → 52h</a:t>
            </a:r>
          </a:p>
          <a:p>
            <a:pPr>
              <a:defRPr sz="1100">
                <a:solidFill>
                  <a:srgbClr val="6B7280"/>
                </a:solidFill>
              </a:defRPr>
            </a:pPr>
            <a:r>
              <a:t>10.1% of total effort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54864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■ Traditional Approach    ■ AI-Assisted Approach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Cost Comparison: Traditional vs AI-Assisted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2743200" cy="2743200"/>
          </a:xfrm>
          <a:prstGeom prst="rect">
            <a:avLst/>
          </a:prstGeom>
          <a:solidFill>
            <a:srgbClr val="F5F5F5"/>
          </a:solidFill>
          <a:ln w="254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500"/>
              </a:spcAft>
              <a:defRPr sz="2200" b="1">
                <a:solidFill>
                  <a:srgbClr val="374151"/>
                </a:solidFill>
              </a:defRPr>
            </a:pPr>
            <a:r>
              <a:t>Traditional</a:t>
            </a:r>
          </a:p>
          <a:p>
            <a:pPr algn="ctr">
              <a:spcAft>
                <a:spcPts val="1000"/>
              </a:spcAft>
              <a:defRPr sz="4000" b="1">
                <a:solidFill>
                  <a:srgbClr val="0066CC"/>
                </a:solidFill>
              </a:defRPr>
            </a:pPr>
            <a:r>
              <a:t>$36,900</a:t>
            </a:r>
          </a:p>
          <a:p>
            <a:pPr algn="ctr">
              <a:defRPr sz="1600">
                <a:solidFill>
                  <a:srgbClr val="6B7280"/>
                </a:solidFill>
              </a:defRPr>
            </a:pPr>
            <a:r>
              <a:t>690 hours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2743200" cy="2743200"/>
          </a:xfrm>
          <a:prstGeom prst="rect">
            <a:avLst/>
          </a:prstGeom>
          <a:solidFill>
            <a:srgbClr val="D4F4DD"/>
          </a:solidFill>
          <a:ln w="381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500"/>
              </a:spcAft>
              <a:defRPr sz="2200" b="1">
                <a:solidFill>
                  <a:srgbClr val="374151"/>
                </a:solidFill>
              </a:defRPr>
            </a:pPr>
            <a:r>
              <a:t>AI-Assisted</a:t>
            </a:r>
          </a:p>
          <a:p>
            <a:pPr algn="ctr">
              <a:spcAft>
                <a:spcPts val="1000"/>
              </a:spcAft>
              <a:defRPr sz="4000" b="1">
                <a:solidFill>
                  <a:srgbClr val="059669"/>
                </a:solidFill>
              </a:defRPr>
            </a:pPr>
            <a:r>
              <a:t>$27,655</a:t>
            </a:r>
          </a:p>
          <a:p>
            <a:pPr algn="ctr">
              <a:defRPr sz="1600">
                <a:solidFill>
                  <a:srgbClr val="6B7280"/>
                </a:solidFill>
              </a:defRPr>
            </a:pPr>
            <a:r>
              <a:t>517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50292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59669"/>
                </a:solidFill>
              </a:defRPr>
            </a:pPr>
            <a:r>
              <a:t>Save $9,245 (25%)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5-Phase Development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6858000" cy="731520"/>
          </a:xfrm>
          <a:prstGeom prst="rect">
            <a:avLst/>
          </a:prstGeom>
          <a:solidFill>
            <a:srgbClr val="F0F7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</a:defRPr>
            </a:pPr>
            <a:r>
              <a:t>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46304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t>Project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46304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6B7280"/>
                </a:solidFill>
              </a:defRPr>
            </a:pPr>
            <a:r>
              <a:t>16h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286000"/>
            <a:ext cx="6858000" cy="731520"/>
          </a:xfrm>
          <a:prstGeom prst="rect">
            <a:avLst/>
          </a:prstGeom>
          <a:solidFill>
            <a:srgbClr val="F0F7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</a:defRPr>
            </a:pPr>
            <a:r>
              <a:t>Phase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37744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t>Authentication &amp; User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37744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6B7280"/>
                </a:solidFill>
              </a:defRPr>
            </a:pPr>
            <a:r>
              <a:t>64h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200400"/>
            <a:ext cx="6858000" cy="731520"/>
          </a:xfrm>
          <a:prstGeom prst="rect">
            <a:avLst/>
          </a:prstGeom>
          <a:solidFill>
            <a:srgbClr val="F0F7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29184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</a:defRPr>
            </a:pPr>
            <a:r>
              <a:t>Phase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29184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t>Provider Experience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29184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6B7280"/>
                </a:solidFill>
              </a:defRPr>
            </a:pPr>
            <a:r>
              <a:t>160h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114800"/>
            <a:ext cx="6858000" cy="731520"/>
          </a:xfrm>
          <a:prstGeom prst="rect">
            <a:avLst/>
          </a:prstGeom>
          <a:solidFill>
            <a:srgbClr val="F0F7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0624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</a:defRPr>
            </a:pPr>
            <a:r>
              <a:t>Phase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20624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t>Clinician Experience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20624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6B7280"/>
                </a:solidFill>
              </a:defRPr>
            </a:pPr>
            <a:r>
              <a:t>160h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5029200"/>
            <a:ext cx="6858000" cy="731520"/>
          </a:xfrm>
          <a:prstGeom prst="rect">
            <a:avLst/>
          </a:prstGeom>
          <a:solidFill>
            <a:srgbClr val="F0F7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12064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</a:defRPr>
            </a:pPr>
            <a:r>
              <a:t>Phase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512064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t>Admin Experience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12064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6B7280"/>
                </a:solidFill>
              </a:defRPr>
            </a:pPr>
            <a:r>
              <a:t>144h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5943600"/>
            <a:ext cx="6858000" cy="731520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603504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t>DevOps &amp; Infrastructure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603504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6B7280"/>
                </a:solidFill>
              </a:defRPr>
            </a:pPr>
            <a:r>
              <a:t>76h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6858000"/>
            <a:ext cx="6858000" cy="731520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694944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t>QA &amp; Testing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94944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6B7280"/>
                </a:solidFill>
              </a:defRPr>
            </a:pPr>
            <a:r>
              <a:t>70h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Comprehensive Quality Assurance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 b="1">
                <a:solidFill>
                  <a:srgbClr val="0066CC"/>
                </a:solidFill>
              </a:defRPr>
            </a:pPr>
            <a:r>
              <a:t>70 Hours of Rigorous Testing</a:t>
            </a:r>
          </a:p>
          <a:p>
            <a:pPr>
              <a:spcBef>
                <a:spcPts val="1000"/>
              </a:spcBef>
              <a:defRPr sz="1500" b="1">
                <a:solidFill>
                  <a:srgbClr val="0066CC"/>
                </a:solidFill>
              </a:defRPr>
            </a:pPr>
            <a:r>
              <a:t>Unit &amp; Integration Testing: </a:t>
            </a:r>
            <a:r>
              <a:rPr b="0" sz="1400">
                <a:solidFill>
                  <a:srgbClr val="374151"/>
                </a:solidFill>
              </a:rPr>
              <a:t>Backend services, repositories, &gt;80% code coverage</a:t>
            </a:r>
          </a:p>
          <a:p>
            <a:pPr>
              <a:spcBef>
                <a:spcPts val="1000"/>
              </a:spcBef>
              <a:defRPr sz="1500" b="1">
                <a:solidFill>
                  <a:srgbClr val="0066CC"/>
                </a:solidFill>
              </a:defRPr>
            </a:pPr>
            <a:r>
              <a:t>API Testing: </a:t>
            </a:r>
            <a:r>
              <a:rPr b="0" sz="1400">
                <a:solidFill>
                  <a:srgbClr val="374151"/>
                </a:solidFill>
              </a:rPr>
              <a:t>REST endpoints, authentication flows, error handling</a:t>
            </a:r>
          </a:p>
          <a:p>
            <a:pPr>
              <a:spcBef>
                <a:spcPts val="1000"/>
              </a:spcBef>
              <a:defRPr sz="1500" b="1">
                <a:solidFill>
                  <a:srgbClr val="0066CC"/>
                </a:solidFill>
              </a:defRPr>
            </a:pPr>
            <a:r>
              <a:t>UI/Frontend Testing: </a:t>
            </a:r>
            <a:r>
              <a:rPr b="0" sz="1400">
                <a:solidFill>
                  <a:srgbClr val="374151"/>
                </a:solidFill>
              </a:rPr>
              <a:t>Component tests, form validation, responsive design</a:t>
            </a:r>
          </a:p>
          <a:p>
            <a:pPr>
              <a:spcBef>
                <a:spcPts val="1000"/>
              </a:spcBef>
              <a:defRPr sz="1500" b="1">
                <a:solidFill>
                  <a:srgbClr val="0066CC"/>
                </a:solidFill>
              </a:defRPr>
            </a:pPr>
            <a:r>
              <a:t>End-to-End Testing: </a:t>
            </a:r>
            <a:r>
              <a:rPr b="0" sz="1400">
                <a:solidFill>
                  <a:srgbClr val="374151"/>
                </a:solidFill>
              </a:rPr>
              <a:t>User journeys, cross-browser, mobile responsiveness</a:t>
            </a:r>
          </a:p>
          <a:p>
            <a:pPr>
              <a:spcBef>
                <a:spcPts val="1000"/>
              </a:spcBef>
              <a:defRPr sz="1500" b="1">
                <a:solidFill>
                  <a:srgbClr val="0066CC"/>
                </a:solidFill>
              </a:defRPr>
            </a:pPr>
            <a:r>
              <a:t>Performance Testing: </a:t>
            </a:r>
            <a:r>
              <a:rPr b="0" sz="1400">
                <a:solidFill>
                  <a:srgbClr val="374151"/>
                </a:solidFill>
              </a:rPr>
              <a:t>Load testing, query optimization, response times</a:t>
            </a:r>
          </a:p>
          <a:p>
            <a:pPr>
              <a:spcBef>
                <a:spcPts val="1000"/>
              </a:spcBef>
              <a:defRPr sz="1500" b="1">
                <a:solidFill>
                  <a:srgbClr val="0066CC"/>
                </a:solidFill>
              </a:defRPr>
            </a:pPr>
            <a:r>
              <a:t>Security Audit: </a:t>
            </a:r>
            <a:r>
              <a:rPr b="0" sz="1400">
                <a:solidFill>
                  <a:srgbClr val="374151"/>
                </a:solidFill>
              </a:rPr>
              <a:t>OWASP Top 10, vulnerability scanning, penetration testing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Project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66CC"/>
                </a:solidFill>
              </a:defRPr>
            </a:pPr>
            <a:r>
              <a:t>4-6 Months</a:t>
            </a:r>
          </a:p>
          <a:p>
            <a:pPr algn="ctr">
              <a:spcBef>
                <a:spcPts val="1000"/>
              </a:spcBef>
              <a:defRPr sz="2000">
                <a:solidFill>
                  <a:srgbClr val="6B7280"/>
                </a:solidFill>
              </a:defRPr>
            </a:pPr>
            <a:r>
              <a:t>With 2-3 Person Development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0066CC"/>
                </a:solidFill>
              </a:defRPr>
            </a:pPr>
            <a:r>
              <a:t>Team Composition:</a:t>
            </a:r>
          </a:p>
          <a:p>
            <a:pPr>
              <a:spcBef>
                <a:spcPts val="800"/>
              </a:spcBef>
              <a:defRPr sz="1600">
                <a:solidFill>
                  <a:srgbClr val="374151"/>
                </a:solidFill>
              </a:defRPr>
            </a:pPr>
            <a:r>
              <a:t>2-3 Full-Stack Developers (Java/Quarkus + React/TypeScript)</a:t>
            </a:r>
          </a:p>
          <a:p>
            <a:pPr>
              <a:spcBef>
                <a:spcPts val="800"/>
              </a:spcBef>
              <a:defRPr sz="1600">
                <a:solidFill>
                  <a:srgbClr val="374151"/>
                </a:solidFill>
              </a:defRPr>
            </a:pPr>
            <a:r>
              <a:t>1 DevOps Engineer (Part-Time)</a:t>
            </a:r>
          </a:p>
          <a:p>
            <a:pPr>
              <a:spcBef>
                <a:spcPts val="800"/>
              </a:spcBef>
              <a:defRPr sz="1600">
                <a:solidFill>
                  <a:srgbClr val="374151"/>
                </a:solidFill>
              </a:defRPr>
            </a:pPr>
            <a:r>
              <a:t>1 QA Engineer (Part-Time)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Total Investment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b="1" sz="2000">
                <a:solidFill>
                  <a:srgbClr val="374151"/>
                </a:solidFill>
              </a:defRPr>
            </a:pPr>
            <a:r>
              <a:t>Development Labor</a:t>
            </a:r>
            <a:r>
              <a:rPr b="1" sz="2000">
                <a:solidFill>
                  <a:srgbClr val="374151"/>
                </a:solidFill>
              </a:rPr>
              <a:t>		$27,655</a:t>
            </a:r>
          </a:p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</a:defRPr>
            </a:pPr>
            <a:r>
              <a:t>AWS Infrastructure (6 months)</a:t>
            </a:r>
            <a:r>
              <a:rPr sz="1600">
                <a:solidFill>
                  <a:srgbClr val="374151"/>
                </a:solidFill>
              </a:rPr>
              <a:t>		$2,370</a:t>
            </a:r>
          </a:p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</a:defRPr>
            </a:pPr>
            <a:r>
              <a:t>Third-Party Services (6 months)</a:t>
            </a:r>
            <a:r>
              <a:rPr sz="1600">
                <a:solidFill>
                  <a:srgbClr val="374151"/>
                </a:solidFill>
              </a:rPr>
              <a:t>		$1,557</a:t>
            </a:r>
          </a:p>
          <a:p>
            <a:pPr>
              <a:spcBef>
                <a:spcPts val="1200"/>
              </a:spcBef>
              <a:defRPr sz="1600">
                <a:solidFill>
                  <a:srgbClr val="374151"/>
                </a:solidFill>
              </a:defRPr>
            </a:pPr>
            <a:r>
              <a:t>AI Development Tools (6 months)</a:t>
            </a:r>
            <a:r>
              <a:rPr sz="1600">
                <a:solidFill>
                  <a:srgbClr val="374151"/>
                </a:solidFill>
              </a:rPr>
              <a:t>		$972</a:t>
            </a:r>
          </a:p>
          <a:p>
            <a:pPr>
              <a:spcBef>
                <a:spcPts val="1200"/>
              </a:spcBef>
              <a:defRPr b="1" sz="2000">
                <a:solidFill>
                  <a:srgbClr val="0066CC"/>
                </a:solidFill>
              </a:defRPr>
            </a:pPr>
            <a:r>
              <a:t>TOTAL PROJECT COST</a:t>
            </a:r>
            <a:r>
              <a:rPr b="1" sz="2000">
                <a:solidFill>
                  <a:srgbClr val="059669"/>
                </a:solidFill>
              </a:rPr>
              <a:t>		$32,554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Why Choose Our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600" b="1">
                <a:solidFill>
                  <a:srgbClr val="059669"/>
                </a:solidFill>
              </a:defRPr>
            </a:pPr>
            <a:r>
              <a:t>✓ AI-Powered Efficiency: </a:t>
            </a:r>
            <a:r>
              <a:rPr b="0">
                <a:solidFill>
                  <a:srgbClr val="374151"/>
                </a:solidFill>
              </a:rPr>
              <a:t>25% faster delivery without compromising quality</a:t>
            </a:r>
          </a:p>
          <a:p>
            <a:pPr>
              <a:spcBef>
                <a:spcPts val="1200"/>
              </a:spcBef>
              <a:defRPr sz="1600" b="1">
                <a:solidFill>
                  <a:srgbClr val="059669"/>
                </a:solidFill>
              </a:defRPr>
            </a:pPr>
            <a:r>
              <a:t>✓ Modern Tech Stack: </a:t>
            </a:r>
            <a:r>
              <a:rPr b="0">
                <a:solidFill>
                  <a:srgbClr val="374151"/>
                </a:solidFill>
              </a:rPr>
              <a:t>Cloud-native, scalable architecture built for growth</a:t>
            </a:r>
          </a:p>
          <a:p>
            <a:pPr>
              <a:spcBef>
                <a:spcPts val="1200"/>
              </a:spcBef>
              <a:defRPr sz="1600" b="1">
                <a:solidFill>
                  <a:srgbClr val="059669"/>
                </a:solidFill>
              </a:defRPr>
            </a:pPr>
            <a:r>
              <a:t>✓ Comprehensive QA: </a:t>
            </a:r>
            <a:r>
              <a:rPr b="0">
                <a:solidFill>
                  <a:srgbClr val="374151"/>
                </a:solidFill>
              </a:rPr>
              <a:t>70 hours of testing ensures reliability and security</a:t>
            </a:r>
          </a:p>
          <a:p>
            <a:pPr>
              <a:spcBef>
                <a:spcPts val="1200"/>
              </a:spcBef>
              <a:defRPr sz="1600" b="1">
                <a:solidFill>
                  <a:srgbClr val="059669"/>
                </a:solidFill>
              </a:defRPr>
            </a:pPr>
            <a:r>
              <a:t>✓ Transparent Pricing: </a:t>
            </a:r>
            <a:r>
              <a:rPr b="0">
                <a:solidFill>
                  <a:srgbClr val="374151"/>
                </a:solidFill>
              </a:rPr>
              <a:t>Fixed-price estimate with detailed breakdown</a:t>
            </a:r>
          </a:p>
          <a:p>
            <a:pPr>
              <a:spcBef>
                <a:spcPts val="1200"/>
              </a:spcBef>
              <a:defRPr sz="1600" b="1">
                <a:solidFill>
                  <a:srgbClr val="059669"/>
                </a:solidFill>
              </a:defRPr>
            </a:pPr>
            <a:r>
              <a:t>✓ Proven Methodology: </a:t>
            </a:r>
            <a:r>
              <a:rPr b="0">
                <a:solidFill>
                  <a:srgbClr val="374151"/>
                </a:solidFill>
              </a:rPr>
              <a:t>Agile development with continuous deployment</a:t>
            </a:r>
          </a:p>
          <a:p>
            <a:pPr>
              <a:spcBef>
                <a:spcPts val="1200"/>
              </a:spcBef>
              <a:defRPr sz="1600" b="1">
                <a:solidFill>
                  <a:srgbClr val="059669"/>
                </a:solidFill>
              </a:defRPr>
            </a:pPr>
            <a:r>
              <a:t>✓ Full-Stack Expertise: </a:t>
            </a:r>
            <a:r>
              <a:rPr b="0">
                <a:solidFill>
                  <a:srgbClr val="374151"/>
                </a:solidFill>
              </a:rPr>
              <a:t>Deep experience in healthcare technology solutions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500"/>
              </a:spcAft>
              <a:defRPr sz="2800" b="1">
                <a:solidFill>
                  <a:srgbClr val="0066CC"/>
                </a:solidFill>
              </a:defRPr>
            </a:pPr>
            <a:r>
              <a:t>Ready to Get Started?</a:t>
            </a:r>
          </a:p>
          <a:p>
            <a:pPr>
              <a:spcBef>
                <a:spcPts val="1500"/>
              </a:spcBef>
              <a:defRPr sz="1800">
                <a:solidFill>
                  <a:srgbClr val="374151"/>
                </a:solidFill>
              </a:defRPr>
            </a:pPr>
            <a:r>
              <a:t>1. Review and approve project scope and timeline</a:t>
            </a:r>
          </a:p>
          <a:p>
            <a:pPr>
              <a:spcBef>
                <a:spcPts val="1500"/>
              </a:spcBef>
              <a:defRPr sz="1800">
                <a:solidFill>
                  <a:srgbClr val="374151"/>
                </a:solidFill>
              </a:defRPr>
            </a:pPr>
            <a:r>
              <a:t>2. Sign contract and establish milestone payments</a:t>
            </a:r>
          </a:p>
          <a:p>
            <a:pPr>
              <a:spcBef>
                <a:spcPts val="1500"/>
              </a:spcBef>
              <a:defRPr sz="1800">
                <a:solidFill>
                  <a:srgbClr val="374151"/>
                </a:solidFill>
              </a:defRPr>
            </a:pPr>
            <a:r>
              <a:t>3. Kick off project with technical discovery session</a:t>
            </a:r>
          </a:p>
          <a:p>
            <a:pPr>
              <a:spcBef>
                <a:spcPts val="1500"/>
              </a:spcBef>
              <a:defRPr sz="1800">
                <a:solidFill>
                  <a:srgbClr val="374151"/>
                </a:solidFill>
              </a:defRPr>
            </a:pPr>
            <a:r>
              <a:t>4. Begin Phase 1: Project setup and infrastructure</a:t>
            </a:r>
          </a:p>
          <a:p>
            <a:pPr>
              <a:spcBef>
                <a:spcPts val="1500"/>
              </a:spcBef>
              <a:defRPr sz="1800">
                <a:solidFill>
                  <a:srgbClr val="374151"/>
                </a:solidFill>
              </a:defRPr>
            </a:pPr>
            <a:r>
              <a:t>5. Weekly progress reviews and demos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66928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59669"/>
                </a:solidFill>
              </a:defRPr>
            </a:pPr>
            <a:r>
              <a:t>Let's Build Something Great Together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